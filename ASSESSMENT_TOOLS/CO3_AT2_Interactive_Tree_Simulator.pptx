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4017615"/>
            <a:ext cx="9391650" cy="10572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46202" y="1840259"/>
            <a:ext cx="3899594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550" i="0" u="none">
                <a:solidFill>
                  <a:srgbClr val="1E3A8A"/>
                </a:solidFill>
                <a:latin typeface="Segoe UI"/>
              </a:rPr>
              <a:t>SIMATS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46202" y="2287934"/>
            <a:ext cx="3899594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1472" y="2545109"/>
            <a:ext cx="994905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egoe UI"/>
              </a:rPr>
              <a:t>CO3_AT2_INTERACTIVE TREE 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21596" y="3246090"/>
            <a:ext cx="474865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950" i="0" u="none">
                <a:solidFill>
                  <a:srgbClr val="475569"/>
                </a:solidFill>
                <a:latin typeface="Segoe UI SemiBold"/>
              </a:rPr>
              <a:t>Interactive Simulators to Generate Trees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7318" y="6496050"/>
            <a:ext cx="49128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3A8A"/>
                </a:solidFill>
                <a:latin typeface="Segoe UI"/>
              </a:rPr>
              <a:t>Slide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0153" y="4265265"/>
            <a:ext cx="1550193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Segoe UI"/>
              </a:rPr>
              <a:t>STUDENT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153" y="4522440"/>
            <a:ext cx="1476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egoe UI"/>
              </a:rPr>
              <a:t>M TEJASRI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2733" y="4265265"/>
            <a:ext cx="180475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Segoe UI"/>
              </a:rPr>
              <a:t>GUIDED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2733" y="4522440"/>
            <a:ext cx="171881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egoe UI"/>
              </a:rPr>
              <a:t>DR. SHAKILA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Introduction to Interactive Tree Simulators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7318" y="6496050"/>
            <a:ext cx="49128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Segoe UI"/>
              </a:rPr>
              <a:t>Slide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285875"/>
            <a:ext cx="1078230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What is a Tree Data Structure?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A non-linear hierarchical structure consisting of nodes connected by edges, starting from a root node.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185987"/>
            <a:ext cx="1078230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What is a Tree Simulator?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A software visualizer that graphically builds and manipulates tree structures in real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086100"/>
            <a:ext cx="1078230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Why are Tree Simulators Useful?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Abstract pointer logic and recursive operations become easy to see and follow visually.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986212"/>
            <a:ext cx="1078230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Interactive Learning: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Students can experiment by inserting custom values and observing step-by-step structural changes.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30492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2205037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3105150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005262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285875"/>
            <a:ext cx="5391150" cy="39457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Why Use Tree Simulators?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67318" y="6496050"/>
            <a:ext cx="49128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Segoe UI"/>
              </a:rPr>
              <a:t>Slide 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275" y="2225278"/>
            <a:ext cx="2857500" cy="1809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81491" y="4092178"/>
            <a:ext cx="216306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3A8A"/>
                </a:solidFill>
                <a:latin typeface="Segoe UI"/>
              </a:rPr>
              <a:t>Binary Search Tree 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1285875"/>
            <a:ext cx="5048250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Visual Understanding: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Clear visual representation of parent-child node relationships.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531268"/>
            <a:ext cx="504825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Easy Node Insertion: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Watch nodes dynamically position themselves.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431381"/>
            <a:ext cx="504825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Searching &amp; Traversal: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Trace algorithm paths frame-by-frame.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331493"/>
            <a:ext cx="504825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Step-by-Step Observation: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Pause and analyze balancing or rotation operations.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130492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2550318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3450431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350543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VisualGo – Interactive Tree Simulator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7318" y="6496050"/>
            <a:ext cx="49128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Segoe UI"/>
              </a:rPr>
              <a:t>Slide 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075" y="2185987"/>
            <a:ext cx="2286000" cy="1428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58385" y="3709987"/>
            <a:ext cx="2847379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b="1" sz="1500" i="0" u="none">
                <a:solidFill>
                  <a:srgbClr val="1E3A8A"/>
                </a:solidFill>
                <a:latin typeface="Segoe UI"/>
              </a:rPr>
              <a:t>VisualGo BST Animation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1285875"/>
            <a:ext cx="504825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Animated BST &amp; AVL Trees: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Renders smooth animated transitions during node operations.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185987"/>
            <a:ext cx="504825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Custom Values: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Insert or delete any custom numeric key to test tree responses.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086100"/>
            <a:ext cx="504825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Step-by-Step Execution: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Side-by-side pseudocode highlights each executed 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986212"/>
            <a:ext cx="504825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Tree Balancing: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Clearly shows single and double rotations in AVL trees.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130492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205037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3105150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005262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85875"/>
            <a:ext cx="5391150" cy="32599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285875"/>
            <a:ext cx="5391150" cy="325993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Binary Search Tree Visualizer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67318" y="6496050"/>
            <a:ext cx="49128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Segoe UI"/>
              </a:rPr>
              <a:t>Slide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1524000"/>
            <a:ext cx="512064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E3A8A"/>
                </a:solidFill>
                <a:latin typeface="Segoe UI"/>
              </a:rPr>
              <a:t>Key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1524000"/>
            <a:ext cx="512064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E3A8A"/>
                </a:solidFill>
                <a:latin typeface="Segoe UI"/>
              </a:rPr>
              <a:t>Learning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1952625"/>
            <a:ext cx="45339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Hands-on interactive tree building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2507456"/>
            <a:ext cx="45339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Visual search highlighting target 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3062287"/>
            <a:ext cx="45339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Inorder traversal sorting visualization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6575" y="1952625"/>
            <a:ext cx="45339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Helps master BST ordering properties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6575" y="2507456"/>
            <a:ext cx="453390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Demonstrates O(log n) search paths visually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6575" y="3407568"/>
            <a:ext cx="453390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Connects tree concepts to graph structures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197167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2526506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081337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1775" y="197167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2526506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3426618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Binary Tree Visualizer and Converter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7318" y="6496050"/>
            <a:ext cx="49128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Segoe UI"/>
              </a:rPr>
              <a:t>Slide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285875"/>
            <a:ext cx="107823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Node List Input: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Enter raw array representations or list values directly into the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1840706"/>
            <a:ext cx="107823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Automatic Tree Generation: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Instantly converts text input into clean graphical binary tree diagrams.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395537"/>
            <a:ext cx="107823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Traversal Tracing: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Automatically calculates Preorder, Inorder, and Postorder sequences.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950368"/>
            <a:ext cx="1078230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Comparison &amp; Verification: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Allows students to verify manually solved homework problems against generated trees.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30492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859756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2414587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969418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85875"/>
            <a:ext cx="5391150" cy="32599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285875"/>
            <a:ext cx="5391150" cy="325993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Virtual Labs IIITH – Tree Traversal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67318" y="6496050"/>
            <a:ext cx="49128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Segoe UI"/>
              </a:rPr>
              <a:t>Slide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1524000"/>
            <a:ext cx="512064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E3A8A"/>
                </a:solidFill>
                <a:latin typeface="Segoe UI"/>
              </a:rPr>
              <a:t>Interactive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1524000"/>
            <a:ext cx="512064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E3A8A"/>
                </a:solidFill>
                <a:latin typeface="Segoe UI"/>
              </a:rPr>
              <a:t>Practical 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1952625"/>
            <a:ext cx="453390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Government-supported educational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2852737"/>
            <a:ext cx="453390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Generates randomized tree challenge problems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3752850"/>
            <a:ext cx="45339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Click nodes in exact traversal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6575" y="1952625"/>
            <a:ext cx="45339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Direct hands-on traversal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6575" y="2507456"/>
            <a:ext cx="453390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Immediate feedback on wrong sequence selections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6575" y="3407568"/>
            <a:ext cx="453390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Builds speed, precision, and exam readiness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197167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2871787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771900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1775" y="197167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2526506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3426618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Comparison of Simulators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7318" y="6496050"/>
            <a:ext cx="49128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Segoe UI"/>
              </a:rPr>
              <a:t>Slide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1381125"/>
          <a:ext cx="11125198" cy="43886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114972"/>
                <a:gridCol w="4227462"/>
                <a:gridCol w="3782764"/>
              </a:tblGrid>
              <a:tr h="877728"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FFFFFF"/>
                          </a:solidFill>
                          <a:latin typeface="Segoe UI SemiBold"/>
                        </a:rPr>
                        <a:t>Tool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FFFFFF"/>
                          </a:solidFill>
                          <a:latin typeface="Segoe UI SemiBold"/>
                        </a:rPr>
                        <a:t>Main Feature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FFFFFF"/>
                          </a:solidFill>
                          <a:latin typeface="Segoe UI SemiBold"/>
                        </a:rPr>
                        <a:t>Best Use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</a:tr>
              <a:tr h="877728">
                <a:tc>
                  <a:txBody>
                    <a:bodyPr/>
                    <a:lstStyle/>
                    <a:p>
                      <a:pPr algn="l"/>
                      <a:r>
                        <a:rPr b="1" sz="1800" i="0" u="none">
                          <a:solidFill>
                            <a:srgbClr val="334155"/>
                          </a:solidFill>
                          <a:latin typeface="Segoe UI"/>
                        </a:rPr>
                        <a:t>VisualGo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334155"/>
                          </a:solidFill>
                          <a:latin typeface="Segoe UI"/>
                        </a:rPr>
                        <a:t>Animated BST &amp; AVL balancing step-by-step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334155"/>
                          </a:solidFill>
                          <a:latin typeface="Segoe UI"/>
                        </a:rPr>
                        <a:t>Understanding balancing &amp; rotations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77728">
                <a:tc>
                  <a:txBody>
                    <a:bodyPr/>
                    <a:lstStyle/>
                    <a:p>
                      <a:pPr algn="l"/>
                      <a:r>
                        <a:rPr b="1" sz="1800" i="0" u="none">
                          <a:solidFill>
                            <a:srgbClr val="334155"/>
                          </a:solidFill>
                          <a:latin typeface="Segoe UI"/>
                        </a:rPr>
                        <a:t>BST Visualizer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334155"/>
                          </a:solidFill>
                          <a:latin typeface="Segoe UI"/>
                        </a:rPr>
                        <a:t>Hands-on building, searching &amp; sorting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334155"/>
                          </a:solidFill>
                          <a:latin typeface="Segoe UI"/>
                        </a:rPr>
                        <a:t>Exploring BST search paths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877728">
                <a:tc>
                  <a:txBody>
                    <a:bodyPr/>
                    <a:lstStyle/>
                    <a:p>
                      <a:pPr algn="l"/>
                      <a:r>
                        <a:rPr b="1" sz="1800" i="0" u="none">
                          <a:solidFill>
                            <a:srgbClr val="334155"/>
                          </a:solidFill>
                          <a:latin typeface="Segoe UI"/>
                        </a:rPr>
                        <a:t>BT Visualizer &amp; Converter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334155"/>
                          </a:solidFill>
                          <a:latin typeface="Segoe UI"/>
                        </a:rPr>
                        <a:t>Inputs node lists &amp; auto-draws tree diagrams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334155"/>
                          </a:solidFill>
                          <a:latin typeface="Segoe UI"/>
                        </a:rPr>
                        <a:t>Homework verification &amp; diagramming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77731">
                <a:tc>
                  <a:txBody>
                    <a:bodyPr/>
                    <a:lstStyle/>
                    <a:p>
                      <a:pPr algn="l"/>
                      <a:r>
                        <a:rPr b="1" sz="1800" i="0" u="none">
                          <a:solidFill>
                            <a:srgbClr val="334155"/>
                          </a:solidFill>
                          <a:latin typeface="Segoe UI"/>
                        </a:rPr>
                        <a:t>Virtual Labs IIITH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334155"/>
                          </a:solidFill>
                          <a:latin typeface="Segoe UI"/>
                        </a:rPr>
                        <a:t>Interactive node-clicking traversal quizzes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334155"/>
                          </a:solidFill>
                          <a:latin typeface="Segoe UI"/>
                        </a:rPr>
                        <a:t>Speed practice &amp; quiz preparation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3400" y="2892623"/>
            <a:ext cx="31149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48372" y="2892623"/>
            <a:ext cx="422746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75835" y="2892623"/>
            <a:ext cx="378276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400" y="3846909"/>
            <a:ext cx="31149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48372" y="3846909"/>
            <a:ext cx="422746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75835" y="3846909"/>
            <a:ext cx="378276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3400" y="4801195"/>
            <a:ext cx="31149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48372" y="4801195"/>
            <a:ext cx="422746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75835" y="4801195"/>
            <a:ext cx="378276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3400" y="5755481"/>
            <a:ext cx="31149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48372" y="5755481"/>
            <a:ext cx="422746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75835" y="5755481"/>
            <a:ext cx="378276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285875"/>
            <a:ext cx="5391150" cy="39909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Simple Demonstration – BST Insertion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67318" y="6496050"/>
            <a:ext cx="49128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Segoe UI"/>
              </a:rPr>
              <a:t>Slide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85875"/>
            <a:ext cx="5391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75" i="0" u="none">
                <a:solidFill>
                  <a:srgbClr val="1E3A8A"/>
                </a:solidFill>
                <a:latin typeface="Segoe UI"/>
              </a:rPr>
              <a:t>Steps to Insert Value 65: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775" y="2233612"/>
            <a:ext cx="3238500" cy="2095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6300" y="1676400"/>
            <a:ext cx="504825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1. Compare with Root (50):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65 &gt; 50 → Move Right to 70.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576512"/>
            <a:ext cx="504825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2. Compare with Node (70):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65 &lt; 70 → Move Left to 60.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476625"/>
            <a:ext cx="504825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3. Compare with Node (60):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65 &gt; 60 → Move Right.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376737"/>
            <a:ext cx="504825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4. Position Found: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Insert 65 as Right Child of 60.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1695450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2595562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349567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395787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866900"/>
            <a:ext cx="11125200" cy="857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971800"/>
            <a:ext cx="11125200" cy="857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076700"/>
            <a:ext cx="11125200" cy="857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181600"/>
            <a:ext cx="11125200" cy="8572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Traversal Using Simulators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82486" y="6496050"/>
            <a:ext cx="576113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Segoe UI"/>
              </a:rPr>
              <a:t>Slide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1285875"/>
            <a:ext cx="111252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b="0" sz="1875" i="0" u="none">
                <a:solidFill>
                  <a:srgbClr val="475569"/>
                </a:solidFill>
                <a:latin typeface="Segoe UI"/>
              </a:rPr>
              <a:t>Traversal orders generated for the sample tree (50, 30, 70, 20, 40, 60, 80):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85875"/>
            <a:ext cx="5391150" cy="2914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285875"/>
            <a:ext cx="5391150" cy="29146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Benefits for Students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0969" y="6496050"/>
            <a:ext cx="56763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Segoe UI"/>
              </a:rPr>
              <a:t>Slide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1524000"/>
            <a:ext cx="512064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E3A8A"/>
                </a:solidFill>
                <a:latin typeface="Segoe UI"/>
              </a:rPr>
              <a:t>Visual &amp; Concept Clarity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1524000"/>
            <a:ext cx="512064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E3A8A"/>
                </a:solidFill>
                <a:latin typeface="Segoe UI"/>
              </a:rPr>
              <a:t>Skill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1952625"/>
            <a:ext cx="45339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Interactive step-by-step 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2507456"/>
            <a:ext cx="453390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Faster understanding of complex 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3407568"/>
            <a:ext cx="45339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Clear view of dynamic node adjustments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6575" y="1952625"/>
            <a:ext cx="45339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Easy hands-on practice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6575" y="2507456"/>
            <a:ext cx="45339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Helps students quickly spot logic mistakes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6575" y="3062287"/>
            <a:ext cx="453390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Improves overall algorithmic problem solving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197167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2526506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426618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1775" y="197167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2526506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3081337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85875"/>
            <a:ext cx="11125200" cy="32265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2486" y="6496050"/>
            <a:ext cx="576113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Segoe UI"/>
              </a:rPr>
              <a:t>Slide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0429875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b="0" sz="1950" i="0" u="none">
                <a:solidFill>
                  <a:srgbClr val="0F172A"/>
                </a:solidFill>
                <a:latin typeface="Segoe UI SemiBold"/>
              </a:rPr>
              <a:t>Interactive tree simulators make complex data structure operations much easier to understand through clear visual and hands-on learning.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300" y="2533650"/>
            <a:ext cx="10086975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Tools like </a:t>
            </a:r>
            <a:r>
              <a:rPr b="0" sz="1875" i="0" u="none">
                <a:solidFill>
                  <a:srgbClr val="0F172A"/>
                </a:solidFill>
                <a:latin typeface="Segoe UI SemiBold"/>
              </a:rPr>
              <a:t>VisualGo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and </a:t>
            </a:r>
            <a:r>
              <a:rPr b="0" sz="1875" i="0" u="none">
                <a:solidFill>
                  <a:srgbClr val="0F172A"/>
                </a:solidFill>
                <a:latin typeface="Segoe UI SemiBold"/>
              </a:rPr>
              <a:t>BST Visualizer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clarify search and balancing operations.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300" y="3088481"/>
            <a:ext cx="10086975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Binary Tree Visualizer &amp; Converter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simplifies diagramming and verification.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7300" y="3643312"/>
            <a:ext cx="10086975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Virtual Labs IIITH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offers active quiz-based traversal practice.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2552700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107531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662362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