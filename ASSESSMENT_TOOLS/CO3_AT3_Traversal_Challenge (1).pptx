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0175" y="4010025"/>
            <a:ext cx="9391650" cy="105727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50828" y="1847850"/>
            <a:ext cx="3690342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2400" i="0" u="none">
                <a:solidFill>
                  <a:srgbClr val="1E3A8A"/>
                </a:solidFill>
                <a:latin typeface="Segoe UI"/>
              </a:rPr>
              <a:t>SIMATS ENGINEERING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250828" y="2276475"/>
            <a:ext cx="3690342" cy="28575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719828" y="2533650"/>
            <a:ext cx="8752343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500"/>
              </a:lnSpc>
            </a:pPr>
            <a:r>
              <a:rPr b="1" sz="3750" i="0" u="none">
                <a:solidFill>
                  <a:srgbClr val="0F172A"/>
                </a:solidFill>
                <a:latin typeface="Segoe UI"/>
              </a:rPr>
              <a:t>CO3_AT3_TRAVERSAL CHALLENGE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35522" y="3257550"/>
            <a:ext cx="8120955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875" i="0" u="none">
                <a:solidFill>
                  <a:srgbClr val="475569"/>
                </a:solidFill>
                <a:latin typeface="Segoe UI SemiBold"/>
              </a:rPr>
              <a:t>Traversal Challenge – Interactive Visualizers and Auto-Generation Tools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97976" y="6505575"/>
            <a:ext cx="460623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1E3A8A"/>
                </a:solidFill>
                <a:latin typeface="Segoe UI"/>
              </a:rPr>
              <a:t>Slide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30153" y="4257675"/>
            <a:ext cx="1550193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64748B"/>
                </a:solidFill>
                <a:latin typeface="Segoe UI"/>
              </a:rPr>
              <a:t>STUDENT NAME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30153" y="4514850"/>
            <a:ext cx="14763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Segoe UI"/>
              </a:rPr>
              <a:t>M TEJASRI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42733" y="4257675"/>
            <a:ext cx="1804756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64748B"/>
                </a:solidFill>
                <a:latin typeface="Segoe UI"/>
              </a:rPr>
              <a:t>GUIDED BY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42733" y="4514850"/>
            <a:ext cx="1718816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Segoe UI"/>
              </a:rPr>
              <a:t>DR. SHAKILA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3400" y="514350"/>
            <a:ext cx="1165860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0F172A"/>
                </a:solidFill>
                <a:latin typeface="Segoe UI"/>
              </a:rPr>
              <a:t>Introduction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33400" y="1038225"/>
            <a:ext cx="111252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97976" y="6505575"/>
            <a:ext cx="460623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1E3A8A"/>
                </a:solidFill>
                <a:latin typeface="Segoe UI"/>
              </a:rPr>
              <a:t>Slide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1285875"/>
            <a:ext cx="11125200" cy="319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475569"/>
                </a:solidFill>
                <a:latin typeface="Segoe UI"/>
              </a:rPr>
              <a:t>Understanding data structures through interactive visual representations.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300" y="1834455"/>
            <a:ext cx="10782300" cy="3452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18"/>
              </a:lnSpc>
            </a:pPr>
            <a:r>
              <a:rPr b="0" sz="1875" i="0" u="none">
                <a:solidFill>
                  <a:srgbClr val="0F172A"/>
                </a:solidFill>
                <a:latin typeface="Segoe UI SemiBold"/>
              </a:rPr>
              <a:t>What is Tree Traversal?</a:t>
            </a:r>
            <a:r>
              <a:rPr b="0" sz="1875" i="0" u="none">
                <a:solidFill>
                  <a:srgbClr val="334155"/>
                </a:solidFill>
                <a:latin typeface="Segoe UI"/>
              </a:rPr>
              <a:t> Visiting every node in a tree structure in a specific, systematic order.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2389286"/>
            <a:ext cx="10782300" cy="3452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18"/>
              </a:lnSpc>
            </a:pPr>
            <a:r>
              <a:rPr b="0" sz="1875" i="0" u="none">
                <a:solidFill>
                  <a:srgbClr val="0F172A"/>
                </a:solidFill>
                <a:latin typeface="Segoe UI SemiBold"/>
              </a:rPr>
              <a:t>Why Visualize?</a:t>
            </a:r>
            <a:r>
              <a:rPr b="0" sz="1875" i="0" u="none">
                <a:solidFill>
                  <a:srgbClr val="334155"/>
                </a:solidFill>
                <a:latin typeface="Segoe UI"/>
              </a:rPr>
              <a:t> Recursion and pointer logic are abstract and hard to trace manually on paper.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6300" y="2944117"/>
            <a:ext cx="10782300" cy="6905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18"/>
              </a:lnSpc>
            </a:pPr>
            <a:r>
              <a:rPr b="0" sz="1875" i="0" u="none">
                <a:solidFill>
                  <a:srgbClr val="0F172A"/>
                </a:solidFill>
                <a:latin typeface="Segoe UI SemiBold"/>
              </a:rPr>
              <a:t>How Visualizers Help:</a:t>
            </a:r>
            <a:r>
              <a:rPr b="0" sz="1875" i="0" u="none">
                <a:solidFill>
                  <a:srgbClr val="334155"/>
                </a:solidFill>
                <a:latin typeface="Segoe UI"/>
              </a:rPr>
              <a:t> Step-by-step animation helps engineering students build strong mental models.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1853505"/>
            <a:ext cx="104775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b="0" sz="1350" i="0" u="none">
                <a:solidFill>
                  <a:srgbClr val="1E3A8A"/>
                </a:solidFill>
                <a:latin typeface="Segoe UI"/>
              </a:rPr>
              <a:t>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2408336"/>
            <a:ext cx="104775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b="0" sz="1350" i="0" u="none">
                <a:solidFill>
                  <a:srgbClr val="1E3A8A"/>
                </a:solidFill>
                <a:latin typeface="Segoe UI"/>
              </a:rPr>
              <a:t>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" y="2963167"/>
            <a:ext cx="104775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b="0" sz="1350" i="0" u="none">
                <a:solidFill>
                  <a:srgbClr val="1E3A8A"/>
                </a:solidFill>
                <a:latin typeface="Segoe UI"/>
              </a:rPr>
              <a:t>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7450" y="1285875"/>
            <a:ext cx="5391150" cy="360045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3400" y="514350"/>
            <a:ext cx="1165860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0F172A"/>
                </a:solidFill>
                <a:latin typeface="Segoe UI"/>
              </a:rPr>
              <a:t>Types of Tree Traversal</a:t>
            </a:r>
          </a:p>
        </p:txBody>
      </p:sp>
      <p:sp>
        <p:nvSpPr>
          <p:cNvPr id="6" name="Rectangle 5"/>
          <p:cNvSpPr/>
          <p:nvPr/>
        </p:nvSpPr>
        <p:spPr>
          <a:xfrm>
            <a:off x="533400" y="1038225"/>
            <a:ext cx="111252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97976" y="6505575"/>
            <a:ext cx="460623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1E3A8A"/>
                </a:solidFill>
                <a:latin typeface="Segoe UI"/>
              </a:rPr>
              <a:t>Slide 3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9025" y="1895475"/>
            <a:ext cx="3048000" cy="1905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124378" y="3876675"/>
            <a:ext cx="1677292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1E3A8A"/>
                </a:solidFill>
                <a:latin typeface="Segoe UI"/>
              </a:rPr>
              <a:t>Preorder: 1, 2, 4, 5, 3</a:t>
            </a:r>
            <a:r>
              <a:t>
</a:t>
            </a:r>
            <a:r>
              <a:rPr b="1" sz="1350" i="0" u="none">
                <a:solidFill>
                  <a:srgbClr val="1E3A8A"/>
                </a:solidFill>
                <a:latin typeface="Segoe UI"/>
              </a:rPr>
              <a:t> Inorder: 4, 2, 5, 1,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6300" y="1285875"/>
            <a:ext cx="5048250" cy="6905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18"/>
              </a:lnSpc>
            </a:pPr>
            <a:r>
              <a:rPr b="0" sz="1875" i="0" u="none">
                <a:solidFill>
                  <a:srgbClr val="0F172A"/>
                </a:solidFill>
                <a:latin typeface="Segoe UI SemiBold"/>
              </a:rPr>
              <a:t>Preorder Traversal:</a:t>
            </a:r>
            <a:r>
              <a:t>
</a:t>
            </a:r>
            <a:r>
              <a:rPr b="0" sz="1875" i="0" u="none">
                <a:solidFill>
                  <a:srgbClr val="334155"/>
                </a:solidFill>
                <a:latin typeface="Segoe UI"/>
              </a:rPr>
              <a:t> Root → Left Subtree → Right Subtree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300" y="2185987"/>
            <a:ext cx="5048250" cy="6905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18"/>
              </a:lnSpc>
            </a:pPr>
            <a:r>
              <a:rPr b="0" sz="1875" i="0" u="none">
                <a:solidFill>
                  <a:srgbClr val="0F172A"/>
                </a:solidFill>
                <a:latin typeface="Segoe UI SemiBold"/>
              </a:rPr>
              <a:t>Inorder Traversal:</a:t>
            </a:r>
            <a:r>
              <a:t>
</a:t>
            </a:r>
            <a:r>
              <a:rPr b="0" sz="1875" i="0" u="none">
                <a:solidFill>
                  <a:srgbClr val="334155"/>
                </a:solidFill>
                <a:latin typeface="Segoe UI"/>
              </a:rPr>
              <a:t> Left Subtree → Root → Right Subtree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300" y="3086100"/>
            <a:ext cx="5048250" cy="6905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18"/>
              </a:lnSpc>
            </a:pPr>
            <a:r>
              <a:rPr b="0" sz="1875" i="0" u="none">
                <a:solidFill>
                  <a:srgbClr val="0F172A"/>
                </a:solidFill>
                <a:latin typeface="Segoe UI SemiBold"/>
              </a:rPr>
              <a:t>Postorder Traversal:</a:t>
            </a:r>
            <a:r>
              <a:t>
</a:t>
            </a:r>
            <a:r>
              <a:rPr b="0" sz="1875" i="0" u="none">
                <a:solidFill>
                  <a:srgbClr val="334155"/>
                </a:solidFill>
                <a:latin typeface="Segoe UI"/>
              </a:rPr>
              <a:t> Left Subtree → Right Subtree → Root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6300" y="3986212"/>
            <a:ext cx="5048250" cy="6905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18"/>
              </a:lnSpc>
            </a:pPr>
            <a:r>
              <a:rPr b="0" sz="1875" i="0" u="none">
                <a:solidFill>
                  <a:srgbClr val="0F172A"/>
                </a:solidFill>
                <a:latin typeface="Segoe UI SemiBold"/>
              </a:rPr>
              <a:t>Level-order Traversal:</a:t>
            </a:r>
            <a:r>
              <a:t>
</a:t>
            </a:r>
            <a:r>
              <a:rPr b="0" sz="1875" i="0" u="none">
                <a:solidFill>
                  <a:srgbClr val="334155"/>
                </a:solidFill>
                <a:latin typeface="Segoe UI"/>
              </a:rPr>
              <a:t> Top to bottom, left to right levelwise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" y="1304925"/>
            <a:ext cx="104775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b="0" sz="1350" i="0" u="none">
                <a:solidFill>
                  <a:srgbClr val="1E3A8A"/>
                </a:solidFill>
                <a:latin typeface="Segoe UI"/>
              </a:rPr>
              <a:t>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" y="2205037"/>
            <a:ext cx="104775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b="0" sz="1350" i="0" u="none">
                <a:solidFill>
                  <a:srgbClr val="1E3A8A"/>
                </a:solidFill>
                <a:latin typeface="Segoe UI"/>
              </a:rPr>
              <a:t>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" y="3105150"/>
            <a:ext cx="104775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b="0" sz="1350" i="0" u="none">
                <a:solidFill>
                  <a:srgbClr val="1E3A8A"/>
                </a:solidFill>
                <a:latin typeface="Segoe UI"/>
              </a:rPr>
              <a:t>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1500" y="4005262"/>
            <a:ext cx="104775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b="0" sz="1350" i="0" u="none">
                <a:solidFill>
                  <a:srgbClr val="1E3A8A"/>
                </a:solidFill>
                <a:latin typeface="Segoe UI"/>
              </a:rPr>
              <a:t>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3400" y="514350"/>
            <a:ext cx="1165860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0F172A"/>
                </a:solidFill>
                <a:latin typeface="Segoe UI"/>
              </a:rPr>
              <a:t>Interactive Visualizers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33400" y="1038225"/>
            <a:ext cx="111252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97976" y="6505575"/>
            <a:ext cx="460623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1E3A8A"/>
                </a:solidFill>
                <a:latin typeface="Segoe UI"/>
              </a:rPr>
              <a:t>Slide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1285875"/>
            <a:ext cx="11125200" cy="319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475569"/>
                </a:solidFill>
                <a:latin typeface="Segoe UI"/>
              </a:rPr>
              <a:t>Transforming code logic into real-time graphical movements.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300" y="1834455"/>
            <a:ext cx="10782300" cy="3452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18"/>
              </a:lnSpc>
            </a:pPr>
            <a:r>
              <a:rPr b="0" sz="1875" i="0" u="none">
                <a:solidFill>
                  <a:srgbClr val="0F172A"/>
                </a:solidFill>
                <a:latin typeface="Segoe UI SemiBold"/>
              </a:rPr>
              <a:t>Real-Time Animation:</a:t>
            </a:r>
            <a:r>
              <a:rPr b="0" sz="1875" i="0" u="none">
                <a:solidFill>
                  <a:srgbClr val="334155"/>
                </a:solidFill>
                <a:latin typeface="Segoe UI"/>
              </a:rPr>
              <a:t> Highlights node transitions as the traversal algorithm runs.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2389286"/>
            <a:ext cx="10782300" cy="3452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18"/>
              </a:lnSpc>
            </a:pPr>
            <a:r>
              <a:rPr b="0" sz="1875" i="0" u="none">
                <a:solidFill>
                  <a:srgbClr val="0F172A"/>
                </a:solidFill>
                <a:latin typeface="Segoe UI SemiBold"/>
              </a:rPr>
              <a:t>Step Control:</a:t>
            </a:r>
            <a:r>
              <a:rPr b="0" sz="1875" i="0" u="none">
                <a:solidFill>
                  <a:srgbClr val="334155"/>
                </a:solidFill>
                <a:latin typeface="Segoe UI"/>
              </a:rPr>
              <a:t> Allows students to pause, rewind, or slow down execution steps.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6300" y="2944117"/>
            <a:ext cx="10782300" cy="3452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18"/>
              </a:lnSpc>
            </a:pPr>
            <a:r>
              <a:rPr b="0" sz="1875" i="0" u="none">
                <a:solidFill>
                  <a:srgbClr val="0F172A"/>
                </a:solidFill>
                <a:latin typeface="Segoe UI SemiBold"/>
              </a:rPr>
              <a:t>Call Stack Tracking:</a:t>
            </a:r>
            <a:r>
              <a:rPr b="0" sz="1875" i="0" u="none">
                <a:solidFill>
                  <a:srgbClr val="334155"/>
                </a:solidFill>
                <a:latin typeface="Segoe UI"/>
              </a:rPr>
              <a:t> Illustrates recursive call stack push/pop frames visually.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300" y="3498949"/>
            <a:ext cx="10782300" cy="3452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18"/>
              </a:lnSpc>
            </a:pPr>
            <a:r>
              <a:rPr b="0" sz="1875" i="0" u="none">
                <a:solidFill>
                  <a:srgbClr val="0F172A"/>
                </a:solidFill>
                <a:latin typeface="Segoe UI SemiBold"/>
              </a:rPr>
              <a:t>Active Learning:</a:t>
            </a:r>
            <a:r>
              <a:rPr b="0" sz="1875" i="0" u="none">
                <a:solidFill>
                  <a:srgbClr val="334155"/>
                </a:solidFill>
                <a:latin typeface="Segoe UI"/>
              </a:rPr>
              <a:t> Replaces static diagrams with dynamic interactive feedback.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1853505"/>
            <a:ext cx="104775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b="0" sz="1350" i="0" u="none">
                <a:solidFill>
                  <a:srgbClr val="1E3A8A"/>
                </a:solidFill>
                <a:latin typeface="Segoe UI"/>
              </a:rPr>
              <a:t>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" y="2408336"/>
            <a:ext cx="104775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b="0" sz="1350" i="0" u="none">
                <a:solidFill>
                  <a:srgbClr val="1E3A8A"/>
                </a:solidFill>
                <a:latin typeface="Segoe UI"/>
              </a:rPr>
              <a:t>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" y="2963167"/>
            <a:ext cx="104775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b="0" sz="1350" i="0" u="none">
                <a:solidFill>
                  <a:srgbClr val="1E3A8A"/>
                </a:solidFill>
                <a:latin typeface="Segoe UI"/>
              </a:rPr>
              <a:t>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" y="3517999"/>
            <a:ext cx="104775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b="0" sz="1350" i="0" u="none">
                <a:solidFill>
                  <a:srgbClr val="1E3A8A"/>
                </a:solidFill>
                <a:latin typeface="Segoe UI"/>
              </a:rPr>
              <a:t>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285875"/>
            <a:ext cx="5391150" cy="2607468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7450" y="1285875"/>
            <a:ext cx="5391150" cy="260746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3400" y="514350"/>
            <a:ext cx="1165860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0F172A"/>
                </a:solidFill>
                <a:latin typeface="Segoe UI"/>
              </a:rPr>
              <a:t>Visualgo – Binary Search Tree</a:t>
            </a:r>
          </a:p>
        </p:txBody>
      </p:sp>
      <p:sp>
        <p:nvSpPr>
          <p:cNvPr id="7" name="Rectangle 6"/>
          <p:cNvSpPr/>
          <p:nvPr/>
        </p:nvSpPr>
        <p:spPr>
          <a:xfrm>
            <a:off x="533400" y="1038225"/>
            <a:ext cx="111252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97976" y="6505575"/>
            <a:ext cx="460623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1E3A8A"/>
                </a:solidFill>
                <a:latin typeface="Segoe UI"/>
              </a:rPr>
              <a:t>Slide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8675" y="1543050"/>
            <a:ext cx="5080635" cy="295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950" i="0" u="none">
                <a:solidFill>
                  <a:srgbClr val="1E3A8A"/>
                </a:solidFill>
                <a:latin typeface="Segoe UI"/>
              </a:rPr>
              <a:t>Key Features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62725" y="1543050"/>
            <a:ext cx="5080635" cy="295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950" i="0" u="none">
                <a:solidFill>
                  <a:srgbClr val="1E3A8A"/>
                </a:solidFill>
                <a:latin typeface="Segoe UI"/>
              </a:rPr>
              <a:t>Educational Value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1575" y="1971675"/>
            <a:ext cx="4495800" cy="3452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18"/>
              </a:lnSpc>
            </a:pPr>
            <a:r>
              <a:rPr b="0" sz="1875" i="0" u="none">
                <a:solidFill>
                  <a:srgbClr val="334155"/>
                </a:solidFill>
                <a:latin typeface="Segoe UI"/>
              </a:rPr>
              <a:t>Custom tree creation &amp; preset modes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1575" y="2526506"/>
            <a:ext cx="4495800" cy="3452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18"/>
              </a:lnSpc>
            </a:pPr>
            <a:r>
              <a:rPr b="0" sz="1875" i="0" u="none">
                <a:solidFill>
                  <a:srgbClr val="334155"/>
                </a:solidFill>
                <a:latin typeface="Segoe UI"/>
              </a:rPr>
              <a:t>Supports Pre, In, Post, and Level-order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1575" y="3081337"/>
            <a:ext cx="4495800" cy="3452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18"/>
              </a:lnSpc>
            </a:pPr>
            <a:r>
              <a:rPr b="0" sz="1875" i="0" u="none">
                <a:solidFill>
                  <a:srgbClr val="334155"/>
                </a:solidFill>
                <a:latin typeface="Segoe UI"/>
              </a:rPr>
              <a:t>Synchronized node &amp; code highlighting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5625" y="1971675"/>
            <a:ext cx="4495800" cy="3452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18"/>
              </a:lnSpc>
            </a:pPr>
            <a:r>
              <a:rPr b="0" sz="1875" i="0" u="none">
                <a:solidFill>
                  <a:srgbClr val="334155"/>
                </a:solidFill>
                <a:latin typeface="Segoe UI"/>
              </a:rPr>
              <a:t>Speed control matched to learning pace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5625" y="2526506"/>
            <a:ext cx="4495800" cy="3452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18"/>
              </a:lnSpc>
            </a:pPr>
            <a:r>
              <a:rPr b="0" sz="1875" i="0" u="none">
                <a:solidFill>
                  <a:srgbClr val="334155"/>
                </a:solidFill>
                <a:latin typeface="Segoe UI"/>
              </a:rPr>
              <a:t>Side-by-side pseudocode tracing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5625" y="3081337"/>
            <a:ext cx="4495800" cy="3452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18"/>
              </a:lnSpc>
            </a:pPr>
            <a:r>
              <a:rPr b="0" sz="1875" i="0" u="none">
                <a:solidFill>
                  <a:srgbClr val="334155"/>
                </a:solidFill>
                <a:latin typeface="Segoe UI"/>
              </a:rPr>
              <a:t>Clarifies BST property effects on traversal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6775" y="1990725"/>
            <a:ext cx="104775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b="0" sz="1350" i="0" u="none">
                <a:solidFill>
                  <a:srgbClr val="1E3A8A"/>
                </a:solidFill>
                <a:latin typeface="Segoe UI"/>
              </a:rPr>
              <a:t>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6775" y="2545556"/>
            <a:ext cx="104775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b="0" sz="1350" i="0" u="none">
                <a:solidFill>
                  <a:srgbClr val="1E3A8A"/>
                </a:solidFill>
                <a:latin typeface="Segoe UI"/>
              </a:rPr>
              <a:t>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6775" y="3100387"/>
            <a:ext cx="104775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b="0" sz="1350" i="0" u="none">
                <a:solidFill>
                  <a:srgbClr val="1E3A8A"/>
                </a:solidFill>
                <a:latin typeface="Segoe UI"/>
              </a:rPr>
              <a:t>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825" y="1990725"/>
            <a:ext cx="104775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b="0" sz="1350" i="0" u="none">
                <a:solidFill>
                  <a:srgbClr val="1E3A8A"/>
                </a:solidFill>
                <a:latin typeface="Segoe UI"/>
              </a:rPr>
              <a:t>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00825" y="2545556"/>
            <a:ext cx="104775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b="0" sz="1350" i="0" u="none">
                <a:solidFill>
                  <a:srgbClr val="1E3A8A"/>
                </a:solidFill>
                <a:latin typeface="Segoe UI"/>
              </a:rPr>
              <a:t>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0825" y="3100387"/>
            <a:ext cx="104775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b="0" sz="1350" i="0" u="none">
                <a:solidFill>
                  <a:srgbClr val="1E3A8A"/>
                </a:solidFill>
                <a:latin typeface="Segoe UI"/>
              </a:rPr>
              <a:t>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3400" y="514350"/>
            <a:ext cx="1165860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0F172A"/>
                </a:solidFill>
                <a:latin typeface="Segoe UI"/>
              </a:rPr>
              <a:t>Binary Tree Visualizer and Converter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33400" y="1038225"/>
            <a:ext cx="111252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97976" y="6505575"/>
            <a:ext cx="460623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1E3A8A"/>
                </a:solidFill>
                <a:latin typeface="Segoe UI"/>
              </a:rPr>
              <a:t>Slide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1285875"/>
            <a:ext cx="10782300" cy="3452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18"/>
              </a:lnSpc>
            </a:pPr>
            <a:r>
              <a:rPr b="0" sz="1875" i="0" u="none">
                <a:solidFill>
                  <a:srgbClr val="0F172A"/>
                </a:solidFill>
                <a:latin typeface="Segoe UI SemiBold"/>
              </a:rPr>
              <a:t>Array &amp; List Input:</a:t>
            </a:r>
            <a:r>
              <a:rPr b="0" sz="1875" i="0" u="none">
                <a:solidFill>
                  <a:srgbClr val="334155"/>
                </a:solidFill>
                <a:latin typeface="Segoe UI"/>
              </a:rPr>
              <a:t> Users type simple raw arrays or node lists directly.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300" y="1840706"/>
            <a:ext cx="10782300" cy="3452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18"/>
              </a:lnSpc>
            </a:pPr>
            <a:r>
              <a:rPr b="0" sz="1875" i="0" u="none">
                <a:solidFill>
                  <a:srgbClr val="0F172A"/>
                </a:solidFill>
                <a:latin typeface="Segoe UI SemiBold"/>
              </a:rPr>
              <a:t>Automatic Tree Generation:</a:t>
            </a:r>
            <a:r>
              <a:rPr b="0" sz="1875" i="0" u="none">
                <a:solidFill>
                  <a:srgbClr val="334155"/>
                </a:solidFill>
                <a:latin typeface="Segoe UI"/>
              </a:rPr>
              <a:t> Instantly constructs and displays the graphical binary tree.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2395537"/>
            <a:ext cx="10782300" cy="3452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18"/>
              </a:lnSpc>
            </a:pPr>
            <a:r>
              <a:rPr b="0" sz="1875" i="0" u="none">
                <a:solidFill>
                  <a:srgbClr val="0F172A"/>
                </a:solidFill>
                <a:latin typeface="Segoe UI SemiBold"/>
              </a:rPr>
              <a:t>Calculated Outputs:</a:t>
            </a:r>
            <a:r>
              <a:rPr b="0" sz="1875" i="0" u="none">
                <a:solidFill>
                  <a:srgbClr val="334155"/>
                </a:solidFill>
                <a:latin typeface="Segoe UI"/>
              </a:rPr>
              <a:t> Generates exact Preorder, Inorder, and Postorder sequences.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6300" y="2950368"/>
            <a:ext cx="10782300" cy="3452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18"/>
              </a:lnSpc>
            </a:pPr>
            <a:r>
              <a:rPr b="0" sz="1875" i="0" u="none">
                <a:solidFill>
                  <a:srgbClr val="0F172A"/>
                </a:solidFill>
                <a:latin typeface="Segoe UI SemiBold"/>
              </a:rPr>
              <a:t>Verification Tool:</a:t>
            </a:r>
            <a:r>
              <a:rPr b="0" sz="1875" i="0" u="none">
                <a:solidFill>
                  <a:srgbClr val="334155"/>
                </a:solidFill>
                <a:latin typeface="Segoe UI"/>
              </a:rPr>
              <a:t> Ideal for cross-checking homework and manual paper calculations.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1304925"/>
            <a:ext cx="104775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b="0" sz="1350" i="0" u="none">
                <a:solidFill>
                  <a:srgbClr val="1E3A8A"/>
                </a:solidFill>
                <a:latin typeface="Segoe UI"/>
              </a:rPr>
              <a:t>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1859756"/>
            <a:ext cx="104775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b="0" sz="1350" i="0" u="none">
                <a:solidFill>
                  <a:srgbClr val="1E3A8A"/>
                </a:solidFill>
                <a:latin typeface="Segoe UI"/>
              </a:rPr>
              <a:t>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" y="2414587"/>
            <a:ext cx="104775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b="0" sz="1350" i="0" u="none">
                <a:solidFill>
                  <a:srgbClr val="1E3A8A"/>
                </a:solidFill>
                <a:latin typeface="Segoe UI"/>
              </a:rPr>
              <a:t>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" y="2969418"/>
            <a:ext cx="104775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b="0" sz="1350" i="0" u="none">
                <a:solidFill>
                  <a:srgbClr val="1E3A8A"/>
                </a:solidFill>
                <a:latin typeface="Segoe UI"/>
              </a:rPr>
              <a:t>■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285875"/>
            <a:ext cx="3555950" cy="185424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7950" y="1285875"/>
            <a:ext cx="3555950" cy="1854249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02500" y="1285875"/>
            <a:ext cx="3556099" cy="185424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3400" y="514350"/>
            <a:ext cx="1165860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0F172A"/>
                </a:solidFill>
                <a:latin typeface="Segoe UI"/>
              </a:rPr>
              <a:t>Data Structure Visualizations (USFCA)</a:t>
            </a:r>
          </a:p>
        </p:txBody>
      </p:sp>
      <p:sp>
        <p:nvSpPr>
          <p:cNvPr id="8" name="Rectangle 7"/>
          <p:cNvSpPr/>
          <p:nvPr/>
        </p:nvSpPr>
        <p:spPr>
          <a:xfrm>
            <a:off x="533400" y="1038225"/>
            <a:ext cx="111252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97976" y="6505575"/>
            <a:ext cx="460623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1E3A8A"/>
                </a:solidFill>
                <a:latin typeface="Segoe UI"/>
              </a:rPr>
              <a:t>Slide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8675" y="1543050"/>
            <a:ext cx="3153675" cy="295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950" i="0" u="none">
                <a:solidFill>
                  <a:srgbClr val="1E3A8A"/>
                </a:solidFill>
                <a:latin typeface="Segoe UI"/>
              </a:rPr>
              <a:t>One-by-One Insertion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8675" y="1971675"/>
            <a:ext cx="3003500" cy="9112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92"/>
              </a:lnSpc>
            </a:pPr>
            <a:r>
              <a:rPr b="0" sz="1650" i="0" u="none">
                <a:solidFill>
                  <a:srgbClr val="334155"/>
                </a:solidFill>
                <a:latin typeface="Segoe UI"/>
              </a:rPr>
              <a:t>Insert nodes individually to observe tree growth step-by-step.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3225" y="1543050"/>
            <a:ext cx="3153675" cy="295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950" i="0" u="none">
                <a:solidFill>
                  <a:srgbClr val="1E3A8A"/>
                </a:solidFill>
                <a:latin typeface="Segoe UI"/>
              </a:rPr>
              <a:t>Manual Tracing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3225" y="1971675"/>
            <a:ext cx="3003500" cy="9112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92"/>
              </a:lnSpc>
            </a:pPr>
            <a:r>
              <a:rPr b="0" sz="1650" i="0" u="none">
                <a:solidFill>
                  <a:srgbClr val="334155"/>
                </a:solidFill>
                <a:latin typeface="Segoe UI"/>
              </a:rPr>
              <a:t>Trace algorithm execution manually using frame-by-frame controls.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97775" y="1543050"/>
            <a:ext cx="3153831" cy="295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950" i="0" u="none">
                <a:solidFill>
                  <a:srgbClr val="1E3A8A"/>
                </a:solidFill>
                <a:latin typeface="Segoe UI"/>
              </a:rPr>
              <a:t>Deep Understanding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97775" y="1971675"/>
            <a:ext cx="3003649" cy="6075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92"/>
              </a:lnSpc>
            </a:pPr>
            <a:r>
              <a:rPr b="0" sz="1650" i="0" u="none">
                <a:solidFill>
                  <a:srgbClr val="334155"/>
                </a:solidFill>
                <a:latin typeface="Segoe UI"/>
              </a:rPr>
              <a:t>Reinforces how pointers and call stacks work in memory.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3400" y="514350"/>
            <a:ext cx="1165860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0F172A"/>
                </a:solidFill>
                <a:latin typeface="Segoe UI"/>
              </a:rPr>
              <a:t>Auto-Generation Tools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33400" y="1038225"/>
            <a:ext cx="111252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97976" y="6505575"/>
            <a:ext cx="460623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1E3A8A"/>
                </a:solidFill>
                <a:latin typeface="Segoe UI"/>
              </a:rPr>
              <a:t>Slide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1285875"/>
            <a:ext cx="11125200" cy="319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475569"/>
                </a:solidFill>
                <a:latin typeface="Segoe UI"/>
              </a:rPr>
              <a:t>Essential resources for practice and self-assessment.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300" y="1834455"/>
            <a:ext cx="10782300" cy="3452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18"/>
              </a:lnSpc>
            </a:pPr>
            <a:r>
              <a:rPr b="0" sz="1875" i="0" u="none">
                <a:solidFill>
                  <a:srgbClr val="0F172A"/>
                </a:solidFill>
                <a:latin typeface="Segoe UI SemiBold"/>
              </a:rPr>
              <a:t>Fresh Problem Sets:</a:t>
            </a:r>
            <a:r>
              <a:rPr b="0" sz="1875" i="0" u="none">
                <a:solidFill>
                  <a:srgbClr val="334155"/>
                </a:solidFill>
                <a:latin typeface="Segoe UI"/>
              </a:rPr>
              <a:t> Creates randomized tree structures on demand.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2389286"/>
            <a:ext cx="10782300" cy="3452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18"/>
              </a:lnSpc>
            </a:pPr>
            <a:r>
              <a:rPr b="0" sz="1875" i="0" u="none">
                <a:solidFill>
                  <a:srgbClr val="0F172A"/>
                </a:solidFill>
                <a:latin typeface="Segoe UI SemiBold"/>
              </a:rPr>
              <a:t>Algorithmic Thinking:</a:t>
            </a:r>
            <a:r>
              <a:rPr b="0" sz="1875" i="0" u="none">
                <a:solidFill>
                  <a:srgbClr val="334155"/>
                </a:solidFill>
                <a:latin typeface="Segoe UI"/>
              </a:rPr>
              <a:t> Encourages solving unfamiliar tree shapes over memorization.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6300" y="2944117"/>
            <a:ext cx="10782300" cy="3452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18"/>
              </a:lnSpc>
            </a:pPr>
            <a:r>
              <a:rPr b="0" sz="1875" i="0" u="none">
                <a:solidFill>
                  <a:srgbClr val="0F172A"/>
                </a:solidFill>
                <a:latin typeface="Segoe UI SemiBold"/>
              </a:rPr>
              <a:t>Repeated Practice:</a:t>
            </a:r>
            <a:r>
              <a:rPr b="0" sz="1875" i="0" u="none">
                <a:solidFill>
                  <a:srgbClr val="334155"/>
                </a:solidFill>
                <a:latin typeface="Segoe UI"/>
              </a:rPr>
              <a:t> Enables continuous mock quiz sessions for exams.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300" y="3498949"/>
            <a:ext cx="10782300" cy="3452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18"/>
              </a:lnSpc>
            </a:pPr>
            <a:r>
              <a:rPr b="0" sz="1875" i="0" u="none">
                <a:solidFill>
                  <a:srgbClr val="0F172A"/>
                </a:solidFill>
                <a:latin typeface="Segoe UI SemiBold"/>
              </a:rPr>
              <a:t>Zero Setup Overhead:</a:t>
            </a:r>
            <a:r>
              <a:rPr b="0" sz="1875" i="0" u="none">
                <a:solidFill>
                  <a:srgbClr val="334155"/>
                </a:solidFill>
                <a:latin typeface="Segoe UI"/>
              </a:rPr>
              <a:t> Eliminates manual tree construction effort.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1853505"/>
            <a:ext cx="104775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b="0" sz="1350" i="0" u="none">
                <a:solidFill>
                  <a:srgbClr val="1E3A8A"/>
                </a:solidFill>
                <a:latin typeface="Segoe UI"/>
              </a:rPr>
              <a:t>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" y="2408336"/>
            <a:ext cx="104775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b="0" sz="1350" i="0" u="none">
                <a:solidFill>
                  <a:srgbClr val="1E3A8A"/>
                </a:solidFill>
                <a:latin typeface="Segoe UI"/>
              </a:rPr>
              <a:t>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" y="2963167"/>
            <a:ext cx="104775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b="0" sz="1350" i="0" u="none">
                <a:solidFill>
                  <a:srgbClr val="1E3A8A"/>
                </a:solidFill>
                <a:latin typeface="Segoe UI"/>
              </a:rPr>
              <a:t>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" y="3517999"/>
            <a:ext cx="104775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b="0" sz="1350" i="0" u="none">
                <a:solidFill>
                  <a:srgbClr val="1E3A8A"/>
                </a:solidFill>
                <a:latin typeface="Segoe UI"/>
              </a:rPr>
              <a:t>■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484536"/>
            <a:ext cx="11125200" cy="60007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3400" y="514350"/>
            <a:ext cx="1165860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0F172A"/>
                </a:solidFill>
                <a:latin typeface="Segoe UI"/>
              </a:rPr>
              <a:t>LeetCode Tree Visualizer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33400" y="1038225"/>
            <a:ext cx="111252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97976" y="6505575"/>
            <a:ext cx="460623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1E3A8A"/>
                </a:solidFill>
                <a:latin typeface="Segoe UI"/>
              </a:rPr>
              <a:t>Slide 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1285875"/>
            <a:ext cx="11125200" cy="319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475569"/>
                </a:solidFill>
                <a:latin typeface="Segoe UI"/>
              </a:rPr>
              <a:t>Connecting academic data structure concepts to industry platforms.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1834455"/>
            <a:ext cx="10782300" cy="3452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18"/>
              </a:lnSpc>
            </a:pPr>
            <a:r>
              <a:rPr b="0" sz="1875" i="0" u="none">
                <a:solidFill>
                  <a:srgbClr val="0F172A"/>
                </a:solidFill>
                <a:latin typeface="Segoe UI SemiBold"/>
              </a:rPr>
              <a:t>Serialized String Input:</a:t>
            </a:r>
            <a:r>
              <a:rPr b="0" sz="1875" i="0" u="none">
                <a:solidFill>
                  <a:srgbClr val="334155"/>
                </a:solidFill>
                <a:latin typeface="Segoe UI"/>
              </a:rPr>
              <a:t> Parses standard array representation format.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6300" y="3256061"/>
            <a:ext cx="10782300" cy="3452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18"/>
              </a:lnSpc>
            </a:pPr>
            <a:r>
              <a:rPr b="0" sz="1875" i="0" u="none">
                <a:solidFill>
                  <a:srgbClr val="0F172A"/>
                </a:solidFill>
                <a:latin typeface="Segoe UI SemiBold"/>
              </a:rPr>
              <a:t>Visual Tree Rendering:</a:t>
            </a:r>
            <a:r>
              <a:rPr b="0" sz="1875" i="0" u="none">
                <a:solidFill>
                  <a:srgbClr val="334155"/>
                </a:solidFill>
                <a:latin typeface="Segoe UI"/>
              </a:rPr>
              <a:t> Converts abstract string arrays into intuitive diagrams.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300" y="3810892"/>
            <a:ext cx="10782300" cy="3452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18"/>
              </a:lnSpc>
            </a:pPr>
            <a:r>
              <a:rPr b="0" sz="1875" i="0" u="none">
                <a:solidFill>
                  <a:srgbClr val="0F172A"/>
                </a:solidFill>
                <a:latin typeface="Segoe UI SemiBold"/>
              </a:rPr>
              <a:t>Path Sketching:</a:t>
            </a:r>
            <a:r>
              <a:rPr b="0" sz="1875" i="0" u="none">
                <a:solidFill>
                  <a:srgbClr val="334155"/>
                </a:solidFill>
                <a:latin typeface="Segoe UI"/>
              </a:rPr>
              <a:t> Helps identify edge cases, null nodes, and skewed trees.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1853505"/>
            <a:ext cx="104775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b="0" sz="1350" i="0" u="none">
                <a:solidFill>
                  <a:srgbClr val="1E3A8A"/>
                </a:solidFill>
                <a:latin typeface="Segoe UI"/>
              </a:rPr>
              <a:t>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" y="3275111"/>
            <a:ext cx="104775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b="0" sz="1350" i="0" u="none">
                <a:solidFill>
                  <a:srgbClr val="1E3A8A"/>
                </a:solidFill>
                <a:latin typeface="Segoe UI"/>
              </a:rPr>
              <a:t>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" y="3829942"/>
            <a:ext cx="104775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b="0" sz="1350" i="0" u="none">
                <a:solidFill>
                  <a:srgbClr val="1E3A8A"/>
                </a:solidFill>
                <a:latin typeface="Segoe UI"/>
              </a:rPr>
              <a:t>■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285875"/>
            <a:ext cx="5391150" cy="329803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7450" y="1285875"/>
            <a:ext cx="5391150" cy="3298031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3400" y="514350"/>
            <a:ext cx="1165860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0F172A"/>
                </a:solidFill>
                <a:latin typeface="Segoe UI"/>
              </a:rPr>
              <a:t>Virtual Labs (IIIT Hyderabad)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33400" y="1038225"/>
            <a:ext cx="111252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18502" y="6505575"/>
            <a:ext cx="540097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1E3A8A"/>
                </a:solidFill>
                <a:latin typeface="Segoe UI"/>
              </a:rPr>
              <a:t>Slide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8675" y="1543050"/>
            <a:ext cx="5080635" cy="295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950" i="0" u="none">
                <a:solidFill>
                  <a:srgbClr val="1E3A8A"/>
                </a:solidFill>
                <a:latin typeface="Segoe UI"/>
              </a:rPr>
              <a:t>Lab Features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62725" y="1543050"/>
            <a:ext cx="5080635" cy="295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950" i="0" u="none">
                <a:solidFill>
                  <a:srgbClr val="1E3A8A"/>
                </a:solidFill>
                <a:latin typeface="Segoe UI"/>
              </a:rPr>
              <a:t>Student Outcomes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1575" y="1971675"/>
            <a:ext cx="4495800" cy="6905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18"/>
              </a:lnSpc>
            </a:pPr>
            <a:r>
              <a:rPr b="0" sz="1875" i="0" u="none">
                <a:solidFill>
                  <a:srgbClr val="334155"/>
                </a:solidFill>
                <a:latin typeface="Segoe UI"/>
              </a:rPr>
              <a:t>Govt. of India supported educational simulator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1575" y="2871787"/>
            <a:ext cx="4495800" cy="3452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18"/>
              </a:lnSpc>
            </a:pPr>
            <a:r>
              <a:rPr b="0" sz="1875" i="0" u="none">
                <a:solidFill>
                  <a:srgbClr val="334155"/>
                </a:solidFill>
                <a:latin typeface="Segoe UI"/>
              </a:rPr>
              <a:t>Generates randomized tree graphs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1575" y="3426618"/>
            <a:ext cx="4495800" cy="6905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18"/>
              </a:lnSpc>
            </a:pPr>
            <a:r>
              <a:rPr b="0" sz="1875" i="0" u="none">
                <a:solidFill>
                  <a:srgbClr val="334155"/>
                </a:solidFill>
                <a:latin typeface="Segoe UI"/>
              </a:rPr>
              <a:t>Quiz Mode: Click nodes in exact traversal order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5625" y="1971675"/>
            <a:ext cx="4495800" cy="3452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18"/>
              </a:lnSpc>
            </a:pPr>
            <a:r>
              <a:rPr b="0" sz="1875" i="0" u="none">
                <a:solidFill>
                  <a:srgbClr val="334155"/>
                </a:solidFill>
                <a:latin typeface="Segoe UI"/>
              </a:rPr>
              <a:t>Active hands-on testing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5625" y="2526506"/>
            <a:ext cx="4495800" cy="3452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18"/>
              </a:lnSpc>
            </a:pPr>
            <a:r>
              <a:rPr b="0" sz="1875" i="0" u="none">
                <a:solidFill>
                  <a:srgbClr val="334155"/>
                </a:solidFill>
                <a:latin typeface="Segoe UI"/>
              </a:rPr>
              <a:t>Instant feedback on incorrect sequence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5625" y="3081337"/>
            <a:ext cx="4495800" cy="3452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18"/>
              </a:lnSpc>
            </a:pPr>
            <a:r>
              <a:rPr b="0" sz="1875" i="0" u="none">
                <a:solidFill>
                  <a:srgbClr val="334155"/>
                </a:solidFill>
                <a:latin typeface="Segoe UI"/>
              </a:rPr>
              <a:t>Builds speed and accuracy for lab exams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6775" y="1990725"/>
            <a:ext cx="104775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b="0" sz="1350" i="0" u="none">
                <a:solidFill>
                  <a:srgbClr val="1E3A8A"/>
                </a:solidFill>
                <a:latin typeface="Segoe UI"/>
              </a:rPr>
              <a:t>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6775" y="2890837"/>
            <a:ext cx="104775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b="0" sz="1350" i="0" u="none">
                <a:solidFill>
                  <a:srgbClr val="1E3A8A"/>
                </a:solidFill>
                <a:latin typeface="Segoe UI"/>
              </a:rPr>
              <a:t>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6775" y="3445668"/>
            <a:ext cx="104775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b="0" sz="1350" i="0" u="none">
                <a:solidFill>
                  <a:srgbClr val="1E3A8A"/>
                </a:solidFill>
                <a:latin typeface="Segoe UI"/>
              </a:rPr>
              <a:t>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825" y="1990725"/>
            <a:ext cx="104775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b="0" sz="1350" i="0" u="none">
                <a:solidFill>
                  <a:srgbClr val="1E3A8A"/>
                </a:solidFill>
                <a:latin typeface="Segoe UI"/>
              </a:rPr>
              <a:t>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00825" y="2545556"/>
            <a:ext cx="104775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b="0" sz="1350" i="0" u="none">
                <a:solidFill>
                  <a:srgbClr val="1E3A8A"/>
                </a:solidFill>
                <a:latin typeface="Segoe UI"/>
              </a:rPr>
              <a:t>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0825" y="3100387"/>
            <a:ext cx="104775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b="0" sz="1350" i="0" u="none">
                <a:solidFill>
                  <a:srgbClr val="1E3A8A"/>
                </a:solidFill>
                <a:latin typeface="Segoe UI"/>
              </a:rPr>
              <a:t>■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3400" y="514350"/>
            <a:ext cx="1165860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0F172A"/>
                </a:solidFill>
                <a:latin typeface="Segoe UI"/>
              </a:rPr>
              <a:t>Comparison of the Tools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33400" y="1038225"/>
            <a:ext cx="111252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26390" y="6505575"/>
            <a:ext cx="532209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1E3A8A"/>
                </a:solidFill>
                <a:latin typeface="Segoe UI"/>
              </a:rPr>
              <a:t>Slide 11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33400" y="1381125"/>
          <a:ext cx="11125198" cy="38037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3114972"/>
                <a:gridCol w="4227462"/>
                <a:gridCol w="3782764"/>
              </a:tblGrid>
              <a:tr h="633958">
                <a:tc>
                  <a:txBody>
                    <a:bodyPr/>
                    <a:lstStyle/>
                    <a:p>
                      <a:pPr algn="l"/>
                      <a:r>
                        <a:rPr b="0" sz="1650" i="0" u="none">
                          <a:solidFill>
                            <a:srgbClr val="FFFFFF"/>
                          </a:solidFill>
                          <a:latin typeface="Segoe UI SemiBold"/>
                        </a:rPr>
                        <a:t>Tool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650" i="0" u="none">
                          <a:solidFill>
                            <a:srgbClr val="FFFFFF"/>
                          </a:solidFill>
                          <a:latin typeface="Segoe UI SemiBold"/>
                        </a:rPr>
                        <a:t>Main Purpose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650" i="0" u="none">
                          <a:solidFill>
                            <a:srgbClr val="FFFFFF"/>
                          </a:solidFill>
                          <a:latin typeface="Segoe UI SemiBold"/>
                        </a:rPr>
                        <a:t>Best For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A8A"/>
                    </a:solidFill>
                  </a:tcPr>
                </a:tc>
              </a:tr>
              <a:tr h="633958">
                <a:tc>
                  <a:txBody>
                    <a:bodyPr/>
                    <a:lstStyle/>
                    <a:p>
                      <a:pPr algn="l"/>
                      <a:r>
                        <a:rPr b="1" sz="1575" i="0" u="none">
                          <a:solidFill>
                            <a:srgbClr val="334155"/>
                          </a:solidFill>
                          <a:latin typeface="Segoe UI"/>
                        </a:rPr>
                        <a:t>Visualgo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75" i="0" u="none">
                          <a:solidFill>
                            <a:srgbClr val="334155"/>
                          </a:solidFill>
                          <a:latin typeface="Segoe UI"/>
                        </a:rPr>
                        <a:t>Real-time BST algorithm animation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75" i="0" u="none">
                          <a:solidFill>
                            <a:srgbClr val="334155"/>
                          </a:solidFill>
                          <a:latin typeface="Segoe UI"/>
                        </a:rPr>
                        <a:t>Understanding step-by-step mechanics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33958">
                <a:tc>
                  <a:txBody>
                    <a:bodyPr/>
                    <a:lstStyle/>
                    <a:p>
                      <a:pPr algn="l"/>
                      <a:r>
                        <a:rPr b="1" sz="1575" i="0" u="none">
                          <a:solidFill>
                            <a:srgbClr val="334155"/>
                          </a:solidFill>
                          <a:latin typeface="Segoe UI"/>
                        </a:rPr>
                        <a:t>Binary Tree Visualizer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75" i="0" u="none">
                          <a:solidFill>
                            <a:srgbClr val="334155"/>
                          </a:solidFill>
                          <a:latin typeface="Segoe UI"/>
                        </a:rPr>
                        <a:t>Converts arrays/lists to visual trees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75" i="0" u="none">
                          <a:solidFill>
                            <a:srgbClr val="334155"/>
                          </a:solidFill>
                          <a:latin typeface="Segoe UI"/>
                        </a:rPr>
                        <a:t>Homework verification &amp; quick checks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633958">
                <a:tc>
                  <a:txBody>
                    <a:bodyPr/>
                    <a:lstStyle/>
                    <a:p>
                      <a:pPr algn="l"/>
                      <a:r>
                        <a:rPr b="1" sz="1575" i="0" u="none">
                          <a:solidFill>
                            <a:srgbClr val="334155"/>
                          </a:solidFill>
                          <a:latin typeface="Segoe UI"/>
                        </a:rPr>
                        <a:t>USFCA Visualizations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75" i="0" u="none">
                          <a:solidFill>
                            <a:srgbClr val="334155"/>
                          </a:solidFill>
                          <a:latin typeface="Segoe UI"/>
                        </a:rPr>
                        <a:t>Step-by-step manual execution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75" i="0" u="none">
                          <a:solidFill>
                            <a:srgbClr val="334155"/>
                          </a:solidFill>
                          <a:latin typeface="Segoe UI"/>
                        </a:rPr>
                        <a:t>Detailed manual tracing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33958">
                <a:tc>
                  <a:txBody>
                    <a:bodyPr/>
                    <a:lstStyle/>
                    <a:p>
                      <a:pPr algn="l"/>
                      <a:r>
                        <a:rPr b="1" sz="1575" i="0" u="none">
                          <a:solidFill>
                            <a:srgbClr val="334155"/>
                          </a:solidFill>
                          <a:latin typeface="Segoe UI"/>
                        </a:rPr>
                        <a:t>LeetCode Visualizer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75" i="0" u="none">
                          <a:solidFill>
                            <a:srgbClr val="334155"/>
                          </a:solidFill>
                          <a:latin typeface="Segoe UI"/>
                        </a:rPr>
                        <a:t>Formats serialized tree strings visually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75" i="0" u="none">
                          <a:solidFill>
                            <a:srgbClr val="334155"/>
                          </a:solidFill>
                          <a:latin typeface="Segoe UI"/>
                        </a:rPr>
                        <a:t>Competitive coding &amp; practice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633959">
                <a:tc>
                  <a:txBody>
                    <a:bodyPr/>
                    <a:lstStyle/>
                    <a:p>
                      <a:pPr algn="l"/>
                      <a:r>
                        <a:rPr b="1" sz="1575" i="0" u="none">
                          <a:solidFill>
                            <a:srgbClr val="334155"/>
                          </a:solidFill>
                          <a:latin typeface="Segoe UI"/>
                        </a:rPr>
                        <a:t>Virtual Labs (IIITH)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75" i="0" u="none">
                          <a:solidFill>
                            <a:srgbClr val="334155"/>
                          </a:solidFill>
                          <a:latin typeface="Segoe UI"/>
                        </a:rPr>
                        <a:t>Interactive node-clicking quiz simulator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75" i="0" u="none">
                          <a:solidFill>
                            <a:srgbClr val="334155"/>
                          </a:solidFill>
                          <a:latin typeface="Segoe UI"/>
                        </a:rPr>
                        <a:t>Speed, sequence, and exam prep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33400" y="2793503"/>
            <a:ext cx="31149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48372" y="2793503"/>
            <a:ext cx="422746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875835" y="2793503"/>
            <a:ext cx="3782764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33400" y="3387774"/>
            <a:ext cx="31149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48372" y="3387774"/>
            <a:ext cx="422746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875835" y="3387774"/>
            <a:ext cx="3782764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33400" y="3982045"/>
            <a:ext cx="31149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48372" y="3982045"/>
            <a:ext cx="422746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875835" y="3982045"/>
            <a:ext cx="3782764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33400" y="4576316"/>
            <a:ext cx="31149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48372" y="4576316"/>
            <a:ext cx="422746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875835" y="4576316"/>
            <a:ext cx="3782764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33400" y="5170586"/>
            <a:ext cx="31149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48372" y="5170586"/>
            <a:ext cx="422746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875835" y="5170586"/>
            <a:ext cx="3782764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285875"/>
            <a:ext cx="5391150" cy="2952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7450" y="1285875"/>
            <a:ext cx="5391150" cy="295275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3400" y="514350"/>
            <a:ext cx="1165860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0F172A"/>
                </a:solidFill>
                <a:latin typeface="Segoe UI"/>
              </a:rPr>
              <a:t>Benefits for Students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533400" y="1038225"/>
            <a:ext cx="111252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18502" y="6505575"/>
            <a:ext cx="540097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1E3A8A"/>
                </a:solidFill>
                <a:latin typeface="Segoe UI"/>
              </a:rPr>
              <a:t>Slide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8675" y="1543050"/>
            <a:ext cx="5080635" cy="295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950" i="0" u="none">
                <a:solidFill>
                  <a:srgbClr val="1E3A8A"/>
                </a:solidFill>
                <a:latin typeface="Segoe UI"/>
              </a:rPr>
              <a:t>Visual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62725" y="1543050"/>
            <a:ext cx="5080635" cy="295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950" i="0" u="none">
                <a:solidFill>
                  <a:srgbClr val="1E3A8A"/>
                </a:solidFill>
                <a:latin typeface="Segoe UI"/>
              </a:rPr>
              <a:t>Practice &amp; Readiness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1575" y="1971675"/>
            <a:ext cx="4495800" cy="6905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18"/>
              </a:lnSpc>
            </a:pPr>
            <a:r>
              <a:rPr b="0" sz="1875" i="0" u="none">
                <a:solidFill>
                  <a:srgbClr val="334155"/>
                </a:solidFill>
                <a:latin typeface="Segoe UI"/>
              </a:rPr>
              <a:t>Deeper understanding of recursive algorithms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1575" y="2871787"/>
            <a:ext cx="4495800" cy="3452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18"/>
              </a:lnSpc>
            </a:pPr>
            <a:r>
              <a:rPr b="0" sz="1875" i="0" u="none">
                <a:solidFill>
                  <a:srgbClr val="334155"/>
                </a:solidFill>
                <a:latin typeface="Segoe UI"/>
              </a:rPr>
              <a:t>Visual clarity replaces mental guesswork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1575" y="3426618"/>
            <a:ext cx="4495800" cy="3452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18"/>
              </a:lnSpc>
            </a:pPr>
            <a:r>
              <a:rPr b="0" sz="1875" i="0" u="none">
                <a:solidFill>
                  <a:srgbClr val="334155"/>
                </a:solidFill>
                <a:latin typeface="Segoe UI"/>
              </a:rPr>
              <a:t>Faster debugging of logic errors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5625" y="1971675"/>
            <a:ext cx="4495800" cy="3452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18"/>
              </a:lnSpc>
            </a:pPr>
            <a:r>
              <a:rPr b="0" sz="1875" i="0" u="none">
                <a:solidFill>
                  <a:srgbClr val="334155"/>
                </a:solidFill>
                <a:latin typeface="Segoe UI"/>
              </a:rPr>
              <a:t>Hands-on active participation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5625" y="2526506"/>
            <a:ext cx="4495800" cy="3452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18"/>
              </a:lnSpc>
            </a:pPr>
            <a:r>
              <a:rPr b="0" sz="1875" i="0" u="none">
                <a:solidFill>
                  <a:srgbClr val="334155"/>
                </a:solidFill>
                <a:latin typeface="Segoe UI"/>
              </a:rPr>
              <a:t>Strengthens algorithmic thinking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5625" y="3081337"/>
            <a:ext cx="4495800" cy="3452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18"/>
              </a:lnSpc>
            </a:pPr>
            <a:r>
              <a:rPr b="0" sz="1875" i="0" u="none">
                <a:solidFill>
                  <a:srgbClr val="334155"/>
                </a:solidFill>
                <a:latin typeface="Segoe UI"/>
              </a:rPr>
              <a:t>Provides unlimited practice opportunities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6775" y="1990725"/>
            <a:ext cx="104775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b="0" sz="1350" i="0" u="none">
                <a:solidFill>
                  <a:srgbClr val="1E3A8A"/>
                </a:solidFill>
                <a:latin typeface="Segoe UI"/>
              </a:rPr>
              <a:t>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6775" y="2890837"/>
            <a:ext cx="104775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b="0" sz="1350" i="0" u="none">
                <a:solidFill>
                  <a:srgbClr val="1E3A8A"/>
                </a:solidFill>
                <a:latin typeface="Segoe UI"/>
              </a:rPr>
              <a:t>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6775" y="3445668"/>
            <a:ext cx="104775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b="0" sz="1350" i="0" u="none">
                <a:solidFill>
                  <a:srgbClr val="1E3A8A"/>
                </a:solidFill>
                <a:latin typeface="Segoe UI"/>
              </a:rPr>
              <a:t>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825" y="1990725"/>
            <a:ext cx="104775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b="0" sz="1350" i="0" u="none">
                <a:solidFill>
                  <a:srgbClr val="1E3A8A"/>
                </a:solidFill>
                <a:latin typeface="Segoe UI"/>
              </a:rPr>
              <a:t>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00825" y="2545556"/>
            <a:ext cx="104775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b="0" sz="1350" i="0" u="none">
                <a:solidFill>
                  <a:srgbClr val="1E3A8A"/>
                </a:solidFill>
                <a:latin typeface="Segoe UI"/>
              </a:rPr>
              <a:t>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0825" y="3100387"/>
            <a:ext cx="104775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b="0" sz="1350" i="0" u="none">
                <a:solidFill>
                  <a:srgbClr val="1E3A8A"/>
                </a:solidFill>
                <a:latin typeface="Segoe UI"/>
              </a:rPr>
              <a:t>■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285875"/>
            <a:ext cx="11125200" cy="392668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3400" y="514350"/>
            <a:ext cx="1165860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0F172A"/>
                </a:solidFill>
                <a:latin typeface="Segoe UI"/>
              </a:rPr>
              <a:t>Conclusion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33400" y="1038225"/>
            <a:ext cx="111252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18502" y="6505575"/>
            <a:ext cx="540097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1E3A8A"/>
                </a:solidFill>
                <a:latin typeface="Segoe UI"/>
              </a:rPr>
              <a:t>Slide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600200"/>
            <a:ext cx="10429875" cy="714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2"/>
              </a:lnSpc>
            </a:pPr>
            <a:r>
              <a:rPr b="0" sz="1875" i="0" u="none">
                <a:solidFill>
                  <a:srgbClr val="0F172A"/>
                </a:solidFill>
                <a:latin typeface="Segoe UI SemiBold"/>
              </a:rPr>
              <a:t>Combining Interactive Visualizers and Auto-Generation Tools creates a complete learning framework for engineering students.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57300" y="2543175"/>
            <a:ext cx="10086975" cy="6905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18"/>
              </a:lnSpc>
            </a:pPr>
            <a:r>
              <a:rPr b="0" sz="1875" i="0" u="none">
                <a:solidFill>
                  <a:srgbClr val="0F172A"/>
                </a:solidFill>
                <a:latin typeface="Segoe UI SemiBold"/>
              </a:rPr>
              <a:t>Interactive Visualizers</a:t>
            </a:r>
            <a:r>
              <a:rPr b="0" sz="1875" i="0" u="none">
                <a:solidFill>
                  <a:srgbClr val="334155"/>
                </a:solidFill>
                <a:latin typeface="Segoe UI"/>
              </a:rPr>
              <a:t> help students </a:t>
            </a:r>
            <a:r>
              <a:rPr b="1" sz="1875" i="0" u="none">
                <a:solidFill>
                  <a:srgbClr val="1E3A8A"/>
                </a:solidFill>
                <a:latin typeface="Segoe UI"/>
              </a:rPr>
              <a:t>SEE</a:t>
            </a:r>
            <a:r>
              <a:rPr b="0" sz="1875" i="0" u="none">
                <a:solidFill>
                  <a:srgbClr val="334155"/>
                </a:solidFill>
                <a:latin typeface="Segoe UI"/>
              </a:rPr>
              <a:t> and understand exact node traversal mechanics step-by-step.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57300" y="3443287"/>
            <a:ext cx="10086975" cy="6905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18"/>
              </a:lnSpc>
            </a:pPr>
            <a:r>
              <a:rPr b="0" sz="1875" i="0" u="none">
                <a:solidFill>
                  <a:srgbClr val="0F172A"/>
                </a:solidFill>
                <a:latin typeface="Segoe UI SemiBold"/>
              </a:rPr>
              <a:t>Auto-Generation Tools</a:t>
            </a:r>
            <a:r>
              <a:rPr b="0" sz="1875" i="0" u="none">
                <a:solidFill>
                  <a:srgbClr val="334155"/>
                </a:solidFill>
                <a:latin typeface="Segoe UI"/>
              </a:rPr>
              <a:t> provide practice, randomized challenges, and real-world problem formats.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57300" y="4343400"/>
            <a:ext cx="10086975" cy="3452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18"/>
              </a:lnSpc>
            </a:pPr>
            <a:r>
              <a:rPr b="0" sz="1875" i="0" u="none">
                <a:solidFill>
                  <a:srgbClr val="334155"/>
                </a:solidFill>
                <a:latin typeface="Segoe UI"/>
              </a:rPr>
              <a:t>Together, these tools make data structure concepts clear, accessible, and easy to master.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2500" y="2562225"/>
            <a:ext cx="104775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b="0" sz="1350" i="0" u="none">
                <a:solidFill>
                  <a:srgbClr val="1E3A8A"/>
                </a:solidFill>
                <a:latin typeface="Segoe UI"/>
              </a:rPr>
              <a:t>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2500" y="3462337"/>
            <a:ext cx="104775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b="0" sz="1350" i="0" u="none">
                <a:solidFill>
                  <a:srgbClr val="1E3A8A"/>
                </a:solidFill>
                <a:latin typeface="Segoe UI"/>
              </a:rPr>
              <a:t>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2500" y="4362450"/>
            <a:ext cx="104775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b="0" sz="1350" i="0" u="none">
                <a:solidFill>
                  <a:srgbClr val="1E3A8A"/>
                </a:solidFill>
                <a:latin typeface="Segoe UI"/>
              </a:rPr>
              <a:t>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